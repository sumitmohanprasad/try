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CAPGEMINI | DEVOPS CONNECTOR + AI REVIEWER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Unified DevOps Connector</a:t>
            </a:r>
            <a:br/>
            <a:r>
              <a:t>&amp; AI Code Reviewer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Segoe UI"/>
              </a:defRPr>
            </a:pPr>
            <a:r>
              <a:rPr dirty="0"/>
              <a:t>Event-driven middleware that orchestrates Jira, GitHub</a:t>
            </a:r>
            <a:br>
              <a:rPr dirty="0"/>
            </a:br>
            <a:r>
              <a:rPr dirty="0"/>
              <a:t>with AI-powered code generation and automated PR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88"/>
                </a:solidFill>
                <a:latin typeface="Segoe UI"/>
              </a:defRPr>
            </a:pPr>
            <a:r>
              <a:t>Capgemini •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CAPGEMINI |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DevOps teams juggle multiple disconnected tools — manual handoffs slow delivery and let quality gaps through.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228600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CD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" cy="32004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2CC"/>
                </a:solidFill>
                <a:latin typeface="Segoe UI"/>
              </a:defRPr>
            </a:pPr>
            <a:r>
              <a:t>Siloed DevOps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rPr dirty="0"/>
              <a:t>Jira, GitHub</a:t>
            </a:r>
            <a:r>
              <a:rPr lang="en-US" dirty="0"/>
              <a:t> </a:t>
            </a:r>
            <a:r>
              <a:rPr dirty="0"/>
              <a:t>all operate independently.</a:t>
            </a:r>
            <a:br>
              <a:rPr dirty="0"/>
            </a:br>
            <a:r>
              <a:rPr dirty="0"/>
              <a:t>Status updates, branch creation, and doc updates require</a:t>
            </a:r>
            <a:br>
              <a:rPr dirty="0"/>
            </a:br>
            <a:r>
              <a:rPr dirty="0"/>
              <a:t>manual effort across platforms.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228600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CD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365760" cy="32004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2CC"/>
                </a:solidFill>
                <a:latin typeface="Segoe UI"/>
              </a:defRPr>
            </a:pPr>
            <a:r>
              <a:t>Manual Code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Developers manually translate Jira tickets into code.</a:t>
            </a:r>
            <a:br/>
            <a:r>
              <a:t>For routine tasks, this is time that could be automated</a:t>
            </a:r>
            <a:br/>
            <a:r>
              <a:t>with AI-assisted code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5303520" cy="228600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CD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65760" cy="32004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2CC"/>
                </a:solidFill>
                <a:latin typeface="Segoe UI"/>
              </a:defRPr>
            </a:pPr>
            <a:r>
              <a:t>Code Reviews Are a Bottleneck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PRs wait hours or days for human review. First-pass</a:t>
            </a:r>
            <a:br/>
            <a:r>
              <a:t>issues (bugs, security, performance) could be caught</a:t>
            </a:r>
            <a:br/>
            <a:r>
              <a:t>instantly by AI — before human reviewers engage.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303520" cy="228600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CD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0" y="4023360"/>
            <a:ext cx="365760" cy="32004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2CC"/>
                </a:solidFill>
                <a:latin typeface="Segoe UI"/>
              </a:defRPr>
            </a:pPr>
            <a:r>
              <a:t>No Automation Across Platforms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548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When a PR merges, someone must manually trigger deploys,</a:t>
            </a:r>
            <a:br/>
            <a:r>
              <a:t>update docs, and close tickets. These repetitive tasks</a:t>
            </a:r>
            <a:br/>
            <a:r>
              <a:t>should be automated end-to-end.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CAPGEMINI |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Two integrated services that automate the full DevOps lifecycle — from ticket to deploy to review.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94960" cy="502920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DevOps Connector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E8FF"/>
                </a:solidFill>
                <a:latin typeface="Segoe UI"/>
              </a:defRPr>
            </a:pPr>
            <a:r>
              <a:t>Event-Driven Orchestration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  <a:r>
              <a:t>• 7 configurable workflow rules (YAML-defined)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48463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• </a:t>
            </a:r>
            <a:r>
              <a:rPr lang="en-US" dirty="0"/>
              <a:t>2</a:t>
            </a:r>
            <a:r>
              <a:rPr dirty="0"/>
              <a:t>-platform integration (Jira, GitHub)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3522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  <a:r>
              <a:t>• Event bus with async dispatch &amp; deduplication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2841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  <a:r>
              <a:t>• Template-based action parameters ({{issue.key}})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216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  <a:r>
              <a:t>• AI code generation from Jira tickets (RAG + LLM)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  <a:r>
              <a:t>• Auto branch creation, commit, PR on ticket move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079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  <a:r>
              <a:t>• Deploy pipelines triggered on PR 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01183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  <a:r>
              <a:t>• Auto release notes + ticket closure on 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9437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  <a:r>
              <a:t>• Webhook ingestion from all 4 platforms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875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Segoe UI"/>
              </a:defRPr>
            </a:pPr>
            <a:r>
              <a:t>• Resilience4j retry + rate limiting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188720"/>
            <a:ext cx="539496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AI PR 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Automated Code Review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Segoe UI"/>
              </a:defRPr>
            </a:pPr>
            <a:r>
              <a:t>• Jira webhook triggers review on "In Review"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42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Segoe UI"/>
              </a:defRPr>
            </a:pPr>
            <a:r>
              <a:t>• Auto-resolves Jira issue → GitHub 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3522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Segoe UI"/>
              </a:defRPr>
            </a:pPr>
            <a:r>
              <a:t>• Fetches PR diff via GitHub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2841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Segoe UI"/>
              </a:defRPr>
            </a:pPr>
            <a:r>
              <a:t>• LLM reviews code (bugs, security, performance)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216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Segoe UI"/>
              </a:defRPr>
            </a:pPr>
            <a:r>
              <a:t>• Posts inline comments on PR (5 severity levels)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Segoe UI"/>
              </a:defRPr>
            </a:pPr>
            <a:r>
              <a:t>• Posts summary back to Jira ticket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079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Segoe UI"/>
              </a:defRPr>
            </a:pPr>
            <a:r>
              <a:t>• Auto transitions: blocking → back to dev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901183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Segoe UI"/>
              </a:defRPr>
            </a:pPr>
            <a:r>
              <a:t>• Multi-provider LLM (Anthropic, OpenAI, OpenRouter)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29437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Segoe UI"/>
              </a:defRPr>
            </a:pPr>
            <a:r>
              <a:t>• Dedup: prevents concurrent reviews on same issue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6875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Segoe UI"/>
              </a:defRPr>
            </a:pPr>
            <a:r>
              <a:t>• Scheduler fallback polling (every 2 min)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400800"/>
            <a:ext cx="11155680" cy="36576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Together: Ticket → AI Code Gen → PR → AI Review → Deploy → Release Notes → Ticket Closed — fully automated.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CAPGEMINI | 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Event-driven middleware connecting 4 platforms with an orchestration engine and AI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211579"/>
            <a:ext cx="2651760" cy="6400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Jira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18"/>
            <a:ext cx="265176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Webhooks 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11155680" cy="12801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2CC"/>
                </a:solidFill>
                <a:latin typeface="Segoe UI"/>
              </a:defRPr>
            </a:pPr>
            <a:r>
              <a:t>DevOps Connector (port 8090)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2468880" cy="6400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Event Bus</a:t>
            </a:r>
            <a:br/>
            <a:r>
              <a:t>Async Dispatch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788920"/>
            <a:ext cx="2468880" cy="64008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Orchestration</a:t>
            </a:r>
            <a:br/>
            <a:r>
              <a:t>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88920"/>
            <a:ext cx="246888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Template</a:t>
            </a:r>
            <a:br/>
            <a:r>
              <a:t>Resolver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788920"/>
            <a:ext cx="246888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Workflow</a:t>
            </a:r>
            <a:br/>
            <a:r>
              <a:t>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5394960" cy="1188720"/>
          </a:xfrm>
          <a:prstGeom prst="roundRect">
            <a:avLst/>
          </a:prstGeom>
          <a:solidFill>
            <a:srgbClr val="F9EE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E44AD"/>
                </a:solidFill>
                <a:latin typeface="Segoe UI"/>
              </a:defRPr>
            </a:pPr>
            <a:r>
              <a:t>AI Code Generation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188720" cy="502920"/>
          </a:xfrm>
          <a:prstGeom prst="roundRect">
            <a:avLst/>
          </a:prstGeom>
          <a:solidFill>
            <a:srgbClr val="F0E0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8E44AD"/>
                </a:solidFill>
              </a:defRPr>
            </a:pPr>
            <a:r>
              <a:t>RAG + Embeddings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434840"/>
            <a:ext cx="1188720" cy="502920"/>
          </a:xfrm>
          <a:prstGeom prst="roundRect">
            <a:avLst/>
          </a:prstGeom>
          <a:solidFill>
            <a:srgbClr val="F0E0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8E44AD"/>
                </a:solidFill>
              </a:defRPr>
            </a:pPr>
            <a:r>
              <a:t>Ticket Decomposition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39" y="4434840"/>
            <a:ext cx="1188720" cy="502920"/>
          </a:xfrm>
          <a:prstGeom prst="roundRect">
            <a:avLst/>
          </a:prstGeom>
          <a:solidFill>
            <a:srgbClr val="F0E0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8E44AD"/>
                </a:solidFill>
              </a:defRPr>
            </a:pPr>
            <a:r>
              <a:t>LLM Code Gen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1999" y="4434840"/>
            <a:ext cx="1188720" cy="502920"/>
          </a:xfrm>
          <a:prstGeom prst="roundRect">
            <a:avLst/>
          </a:prstGeom>
          <a:solidFill>
            <a:srgbClr val="F0E0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8E44AD"/>
                </a:solidFill>
              </a:defRPr>
            </a:pPr>
            <a:r>
              <a:t>Branch + Commit + PR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5394960" cy="1188720"/>
          </a:xfrm>
          <a:prstGeom prst="roundRect">
            <a:avLst/>
          </a:prstGeom>
          <a:solidFill>
            <a:srgbClr val="EEF9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Segoe UI"/>
              </a:defRPr>
            </a:pPr>
            <a:r>
              <a:t>AI PR Reviewer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434840"/>
            <a:ext cx="1188720" cy="502920"/>
          </a:xfrm>
          <a:prstGeom prst="roundRect">
            <a:avLst/>
          </a:prstGeom>
          <a:solidFill>
            <a:srgbClr val="E0F9E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27AE60"/>
                </a:solidFill>
              </a:defRPr>
            </a:pPr>
            <a:r>
              <a:t>PR Diff Fetch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4434840"/>
            <a:ext cx="1188720" cy="502920"/>
          </a:xfrm>
          <a:prstGeom prst="roundRect">
            <a:avLst/>
          </a:prstGeom>
          <a:solidFill>
            <a:srgbClr val="E0F9E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27AE60"/>
                </a:solidFill>
              </a:defRPr>
            </a:pPr>
            <a:r>
              <a:t>LLM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59" y="4434840"/>
            <a:ext cx="1188720" cy="502920"/>
          </a:xfrm>
          <a:prstGeom prst="roundRect">
            <a:avLst/>
          </a:prstGeom>
          <a:solidFill>
            <a:srgbClr val="E0F9E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27AE60"/>
                </a:solidFill>
              </a:defRPr>
            </a:pPr>
            <a:r>
              <a:t>Inline Comments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32719" y="4434840"/>
            <a:ext cx="1188720" cy="502920"/>
          </a:xfrm>
          <a:prstGeom prst="roundRect">
            <a:avLst/>
          </a:prstGeom>
          <a:solidFill>
            <a:srgbClr val="E0F9E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27AE60"/>
                </a:solidFill>
              </a:defRPr>
            </a:pPr>
            <a:r>
              <a:t>Jira Transition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5394960"/>
            <a:ext cx="393192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OpenRouter LLM (Llama 3.1 8B / Nemotron)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Flow: Platform Event → Webhook → Event Bus → Rule Match → Action Execution → Platform API 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CAPGEMINI | WORKFLOW ORCHESTRATION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7 configurable YAML-defined rules that automate cross-platform actions when events occur.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  #       Rule Name                           Trigger                                 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1115568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" cy="594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AI Implement Ticket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45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Jira → "Ready-for-AI"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AI generates code + PR, transitions to "In Review"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67128"/>
            <a:ext cx="11155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167128"/>
            <a:ext cx="54864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3042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04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Trigger Deploy on Merge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042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GitHub PR merged to 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304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Triggers Harness deploy pipeline with commit SHA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83864"/>
            <a:ext cx="11155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483864"/>
            <a:ext cx="54864" cy="5943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621024"/>
            <a:ext cx="2743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Segoe UI"/>
              </a:defRPr>
            </a:pPr>
            <a:r>
              <a:rPr lang="en-US" dirty="0"/>
              <a:t>3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1005840" y="36210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rPr dirty="0"/>
              <a:t>Link PR to Jira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6210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GitHub PR opened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210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Comments PR link on corresponding Jira ticket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142231"/>
            <a:ext cx="1115568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4142231"/>
            <a:ext cx="54864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279391"/>
            <a:ext cx="2743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74C3C"/>
                </a:solidFill>
                <a:latin typeface="Segoe UI"/>
              </a:defRPr>
            </a:pPr>
            <a:r>
              <a:rPr lang="en-US" dirty="0"/>
              <a:t>4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1005840" y="427939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Reopen on Deploy Fail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27939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Harness pipeline FAILED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2793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Comments failure details on Jira ticket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800600"/>
            <a:ext cx="11155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4800600"/>
            <a:ext cx="54864" cy="5943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4937760"/>
            <a:ext cx="2743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A085"/>
                </a:solidFill>
                <a:latin typeface="Segoe UI"/>
              </a:defRPr>
            </a:pPr>
            <a:r>
              <a:rPr lang="en-US" dirty="0"/>
              <a:t>5</a:t>
            </a: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1005840" y="4937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rPr dirty="0"/>
              <a:t>Close Ticket on Merge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937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GitHub PR merged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Transitions Jira ticket to "Done"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58968"/>
            <a:ext cx="1115568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458968"/>
            <a:ext cx="54864" cy="5943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5596128"/>
            <a:ext cx="2743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9999"/>
                </a:solidFill>
                <a:latin typeface="Segoe UI"/>
              </a:defRPr>
            </a:pPr>
            <a:r>
              <a:rPr lang="en-US" dirty="0"/>
              <a:t>6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1005840" y="55961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Auto Branch (disabled)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5961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Jira → "In Progress"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96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Creates feature branch on GitHub + comments Jira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3093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Rules support template variables: {{issue.key}}, {{pr.title}}, {{slugify(issue.title)}}, {{date}}, {{meta.pipeline}}, {{pipeline.executionId}}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CAPGEMINI | AI CODE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When a Jira ticket moves to "Ready-for-AI", the system auto-implements it as code and opens a PR.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15568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Index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Fetches repo tree, embeds code files via OpenAI embeddings, stores in vector store (RAG).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84832"/>
            <a:ext cx="1115568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084832"/>
            <a:ext cx="54864" cy="777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85800" y="2221992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76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Decompose Ticket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963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Large tickets are split into subtasks by LLM (max 5). Simple tickets run as single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80944"/>
            <a:ext cx="1115568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980944"/>
            <a:ext cx="54864" cy="7772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5800" y="3118104"/>
            <a:ext cx="457200" cy="45720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0723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Retrieve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392424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Queries vector store with ticket text. Returns top-K most relevant code files as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77056"/>
            <a:ext cx="1115568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877056"/>
            <a:ext cx="54864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5800" y="4014216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968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Generate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288536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LLM generates file changes in structured format (=== FILE: path === ACTION: CREATE/MODIFY).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773168"/>
            <a:ext cx="1115568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773168"/>
            <a:ext cx="54864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864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Commit &amp; PR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1846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Creates feature branch, commits via Git Data API (atomic), opens PR with description.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669280"/>
            <a:ext cx="1115568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5669280"/>
            <a:ext cx="54864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85800" y="580644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760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Update Jira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60807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Comments PR link on Jira ticket. Transitions ticket to "In Review".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CAPGEMINI | AI PR REVIEWER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Automated code review triggered by Jira status change — reviews diff, posts inline comments, transitions ticket.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15568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80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Jira ticket moves to "In Review" (via webhook or scheduler poll every 2 min).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84832"/>
            <a:ext cx="1115568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084832"/>
            <a:ext cx="54864" cy="7772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85800" y="2221992"/>
            <a:ext cx="457200" cy="4572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Resolve 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963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Maps Jira key to GitHub PR (stored mapping or search titles/branches).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80944"/>
            <a:ext cx="1115568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980944"/>
            <a:ext cx="54864" cy="777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5800" y="3118104"/>
            <a:ext cx="457200" cy="4572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0723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Fetch Diff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392424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Gets PR file changes via GitHub API (paginated, up to 300 files).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77056"/>
            <a:ext cx="1115568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877056"/>
            <a:ext cx="54864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5800" y="4014216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9684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AI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288536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Sends diff + Jira context to LLM. Returns structured JSON comments.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773168"/>
            <a:ext cx="1115568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773168"/>
            <a:ext cx="54864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864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Publish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1846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Posts inline review comments on PR with severity emojis (❗ ⚠️ 💡 🔍 ⭐).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669280"/>
            <a:ext cx="1115568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5669280"/>
            <a:ext cx="54864" cy="7772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85800" y="5806440"/>
            <a:ext cx="457200" cy="45720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Jira Update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60807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Posts summary to Jira. If blocking issues → back to dev; else → "Reviewed by AI".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CAPGEMINI | PLATFORM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rPr lang="en-US" dirty="0"/>
              <a:t>2 </a:t>
            </a:r>
            <a:r>
              <a:rPr dirty="0"/>
              <a:t>platform adapters implementing a unified </a:t>
            </a:r>
            <a:r>
              <a:rPr dirty="0" err="1"/>
              <a:t>PlatformAdapter</a:t>
            </a:r>
            <a:r>
              <a:rPr dirty="0"/>
              <a:t> interface — webhook parsing + API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Jira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Atlassian Cloud REST API v3</a:t>
            </a:r>
            <a:br/>
            <a:br/>
            <a:r>
              <a:t>• Create/update issues</a:t>
            </a:r>
            <a:br/>
            <a:r>
              <a:t>• Transition status</a:t>
            </a:r>
            <a:br/>
            <a:r>
              <a:t>• Add comments</a:t>
            </a:r>
            <a:br/>
            <a:r>
              <a:t>• JQL search</a:t>
            </a:r>
            <a:br/>
            <a:r>
              <a:t>• Webhook: issue_updated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5486400" cy="25603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REST API v3 + Git Data API</a:t>
            </a:r>
            <a:br/>
            <a:br/>
            <a:r>
              <a:t>• Create branches</a:t>
            </a:r>
            <a:br/>
            <a:r>
              <a:t>• Commit files (atomic)</a:t>
            </a:r>
            <a:br/>
            <a:r>
              <a:t>• Open pull requests</a:t>
            </a:r>
            <a:br/>
            <a:r>
              <a:t>• Post reviews + inline comments</a:t>
            </a:r>
            <a:br/>
            <a:r>
              <a:t>• Webhook: PR opened/merged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CAPGEMINI |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Both services built on Java 17 + Spring Boot 3.2 with shared infrastructure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DevOps Connector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Component                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37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379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Spring Boot 3.2.5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HTTP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762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OkHttp 4.12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87168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Resilience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Resilience4j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25496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852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AI/LLM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8529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OpenRouter (Llama 3.1 8B)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63824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191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1912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text-embedding-3-small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02152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529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Vector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5295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In-memory (cosine sim)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40479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38679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86791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Maven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78808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8090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AI PR Reviewer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Component                 Technology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810512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1837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18379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Spring Boot 3.2.1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148840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2176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HTTP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1762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WebFlux WebClient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487168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H2 (embedded, file-based)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825496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2852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28529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Spring Data JPA / Hibernate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163824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3191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1912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OpenRouter (Llama 3.1 8B)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502152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83680" y="3529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LLM Providers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35295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Anthropic, OpenAI, OpenRouter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840479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86791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Build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86791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Maven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4178808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8368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8090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846320"/>
            <a:ext cx="11155680" cy="45720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Shared: Java 17 • Spring Boot 3.2 • Maven • OpenRouter LLM • Docker • Lombok • Jackson • Actuator endpoints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CAPGEMINI | END-TO-END AUTOMATED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Complete lifecycle: Ticket → Code → PR → Review → Deploy → Docs → Close — zero manual intervention.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325880" cy="82296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Jira Ticket</a:t>
            </a:r>
            <a:br/>
            <a:r>
              <a:t>"Ready-for-AI"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5648" y="1371600"/>
            <a:ext cx="132588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AI Code Gen</a:t>
            </a:r>
            <a:br/>
            <a:r>
              <a:t>RAG +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1528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6976" y="1371600"/>
            <a:ext cx="132588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GitHub PR</a:t>
            </a:r>
            <a:br/>
            <a:r>
              <a:t>Created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18304" y="1371600"/>
            <a:ext cx="132588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AI Review</a:t>
            </a:r>
            <a:br/>
            <a:r>
              <a:t>Inline Comments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4184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71600"/>
            <a:ext cx="132588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PR Merged</a:t>
            </a:r>
            <a:br/>
            <a:r>
              <a:t>to 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132588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Harness</a:t>
            </a:r>
            <a:br/>
            <a:r>
              <a:t>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62288" y="1371600"/>
            <a:ext cx="132588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Confluence</a:t>
            </a:r>
            <a:br/>
            <a:r>
              <a:t>Release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88168" y="15544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43616" y="1371600"/>
            <a:ext cx="1325880" cy="82296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Jira</a:t>
            </a:r>
            <a:br/>
            <a:r>
              <a:t>"Done"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60320"/>
            <a:ext cx="5394960" cy="38404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651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2CC"/>
                </a:solidFill>
                <a:latin typeface="Segoe UI"/>
              </a:defRPr>
            </a:pPr>
            <a:r>
              <a:t>DevOps Connector Handles: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63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1. Receives Jira webhook (ticket → "Ready-for-AI")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10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2. Orchestration engine matches rule #6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581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3. AI indexes repo (RAG embeddings)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056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4. LLM generates code from ticket +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531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5. Creates branch + atomic commit via Git Data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6. Opens Pull Request with full description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480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7. On PR merge: triggers Harness deploy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8. On deploy success: appends Confluence release notes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43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9. Transitions Jira ticket to "Done"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560320"/>
            <a:ext cx="5394960" cy="38404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2651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Segoe UI"/>
              </a:defRPr>
            </a:pPr>
            <a:r>
              <a:t>AI Reviewer Handles: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063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1. Receives Jira webhook (ticket → "In Review")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410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2. Resolves Jira issue key → GitHub PR number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7581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3. Fetches full PR diff (paginated, up to 300 files)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1056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4. Filters non-reviewable files (locks, minified)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4531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5. Sends diff + Jira context to LLM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800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6. Parses structured review comments (JSON)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1480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7. Posts inline comments on PR (severity-tagged)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4955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8. Posts summary to Jira ticket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84301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9. Blocking issues? → back to dev; else → "Reviewed"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CAPGEMINI | AI REVIEW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Multi-provider LLM, structured output, severity-based Jira transitions, and smart diff handling.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155680" cy="749808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457200" cy="402336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5-Level Severity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3716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CRITICAL (❗) • WARNING (⚠️) • SUGGESTION (💡) • NITPICK (🔍) • PRAISE (⭐)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11155680" cy="749808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221992"/>
            <a:ext cx="457200" cy="402336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Inline PR Comments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2402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Comments posted at exact file + line number using GitHub Reviews API with emoji prefixes.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11155680" cy="749808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3090672"/>
            <a:ext cx="457200" cy="402336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Smart Diff Chunking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1089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Small PRs reviewed in one shot. Large PRs (&gt;50K chars) reviewed file-by-file (max 20 files).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94759"/>
            <a:ext cx="11155680" cy="749808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3959351"/>
            <a:ext cx="457200" cy="402336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88619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Multi-Provider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977639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Supports Anthropic Claude, OpenAI GPT, and OpenRouter. Configurable per environment.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63440"/>
            <a:ext cx="11155680" cy="749808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" y="4828032"/>
            <a:ext cx="457200" cy="402336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Bi-directional Jira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8463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Posts review summary to Jira. Blocking comments → ticket back to dev. No blockers → "Reviewed".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32120"/>
            <a:ext cx="11155680" cy="749808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520" y="5696712"/>
            <a:ext cx="457200" cy="402336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623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Segoe UI"/>
              </a:defRPr>
            </a:pPr>
            <a:r>
              <a:t>Deduplication 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7150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Segoe UI"/>
              </a:defRPr>
            </a:pPr>
            <a:r>
              <a:t>Prevents concurrent reviews on same issue. Tracks state: TRIGGERED → REVIEWING → COMPLETED.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CAPGEMINI | API SURFACE &amp;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Webhook endpoints, health checks, and management APIs across both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2CC"/>
                </a:solidFill>
                <a:latin typeface="Segoe UI"/>
              </a:defRPr>
            </a:pPr>
            <a:r>
              <a:t>DevOps Connector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3200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Endpoint                                Purpose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379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POST /webhooks/jira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8379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Receive Jira webhooks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POST /webhooks/github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76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Receive GitHub webhooks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87168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POST /webhooks/harness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Receive Harness webhooks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25496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852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POST /webhooks/confluence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8529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Receive Confluence webhooks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63824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1912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GET /api/health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191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System + per-adapter health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02152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5295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GET /api/info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5295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Service metadata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40479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386791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GET /actuator/*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86791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Metrics, health, info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Segoe UI"/>
              </a:defRPr>
            </a:pPr>
            <a:r>
              <a:t>AI PR Reviewer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Endpoint                                Purpose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810512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18379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POST /webhooks/jira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18379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Trigger review on status change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148840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21762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POST /webhooks/github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176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Store PR↔issue mappings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487168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POST /api/reviews/trigger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Manual review trigger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825496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0" y="2852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GET /api/reviews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8529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List all review runs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163824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31912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GET /api/reviews/{key}/latest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191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Latest run for issue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502152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35295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GET /api/reviews/health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35295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Health + review count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840479"/>
            <a:ext cx="53035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83680" y="386791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Segoe UI"/>
              </a:defRPr>
            </a:pPr>
            <a:r>
              <a:t>GET /h2-console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86791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Database web console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CAPGEMINI | VISION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Vision: Fully Automated DevOps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From ticket creation to production deploy — zero manual handoffs, AI-assisted at every 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920240"/>
            <a:ext cx="2194560" cy="15544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Segoe UI"/>
              </a:defRPr>
            </a:pPr>
            <a:r>
              <a:t>AI Code 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4688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Tickets become PRs</a:t>
            </a:r>
            <a:br/>
            <a:r>
              <a:t>automatically via 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920240"/>
            <a:ext cx="2194560" cy="15544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Segoe UI"/>
              </a:defRPr>
            </a:pPr>
            <a:r>
              <a:t>AI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688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Instant first-pass review</a:t>
            </a:r>
            <a:br/>
            <a:r>
              <a:t>before human reviewers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920240"/>
            <a:ext cx="2194560" cy="15544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60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Segoe UI"/>
              </a:defRPr>
            </a:pPr>
            <a:r>
              <a:t>Auto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4688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Merged PRs trigger</a:t>
            </a:r>
            <a:br/>
            <a:r>
              <a:t>pipeline automatically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920240"/>
            <a:ext cx="2194560" cy="15544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Segoe UI"/>
              </a:defRPr>
            </a:pPr>
            <a:r>
              <a:t>Auto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4688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Release notes written</a:t>
            </a:r>
            <a:br/>
            <a:r>
              <a:t>on successful deploy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920240"/>
            <a:ext cx="2194560" cy="15544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21240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Segoe UI"/>
              </a:defRPr>
            </a:pPr>
            <a:r>
              <a:t>Closed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4688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Tickets close when</a:t>
            </a:r>
            <a:br/>
            <a:r>
              <a:t>code reaches production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3474720" cy="128016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Platforms</a:t>
            </a:r>
            <a:br/>
            <a:r>
              <a:t>Integrated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931920"/>
            <a:ext cx="3474720" cy="128016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4114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7AE6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Workflow</a:t>
            </a:r>
            <a:br/>
            <a:r>
              <a:t>Rules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931920"/>
            <a:ext cx="3474720" cy="128016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4114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E44AD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Automated</a:t>
            </a:r>
            <a:br/>
            <a:r>
              <a:t>Lifecycle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669280"/>
            <a:ext cx="11155680" cy="640080"/>
          </a:xfrm>
          <a:prstGeom prst="roundRect">
            <a:avLst/>
          </a:prstGeom>
          <a:solidFill>
            <a:srgbClr val="24243E"/>
          </a:solidFill>
          <a:ln w="254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CCCCCC"/>
                </a:solidFill>
              </a:defRPr>
            </a:pPr>
            <a:r>
              <a:t>Ticket → AI Code → PR → AI Review → Merge → Deploy → Release Notes → Ticket Closed — fully hands-free DevOps.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1857</Words>
  <Application>Microsoft Office PowerPoint</Application>
  <PresentationFormat>Widescreen</PresentationFormat>
  <Paragraphs>304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Prasad, Sumit -ND</cp:lastModifiedBy>
  <cp:revision>7</cp:revision>
  <dcterms:created xsi:type="dcterms:W3CDTF">2013-01-27T09:14:16Z</dcterms:created>
  <dcterms:modified xsi:type="dcterms:W3CDTF">2026-08-26T10:31:08Z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2026-08-26T10:24:15Z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cf2f682c-3782-43a9-9f30-081a226fd3f0</vt:lpwstr>
  </property>
  <property fmtid="{D5CDD505-2E9C-101B-9397-08002B2CF9AE}" pid="8" name="MSIP_Label_c62e0584-010f-4004-8a6a-d5c118c8b4bd_ContentBits">
    <vt:lpwstr>0</vt:lpwstr>
  </property>
  <property fmtid="{D5CDD505-2E9C-101B-9397-08002B2CF9AE}" pid="9" name="MSIP_Label_c62e0584-010f-4004-8a6a-d5c118c8b4bd_Tag">
    <vt:lpwstr>10, 3, 0, 1</vt:lpwstr>
  </property>
</Properties>
</file>